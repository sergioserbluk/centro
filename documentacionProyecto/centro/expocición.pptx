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79779C-B63C-4940-B7AA-41C245DB8F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02606B-D194-444A-8999-0CCAC78B4B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35C5C58-AC97-4C99-8941-D3E959EA24F0}" type="slidenum"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" Target="slide19.xml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" Target="slide23.xml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" Target="slide24.xml"/><Relationship Id="rId2" Type="http://schemas.openxmlformats.org/officeDocument/2006/relationships/slide" Target="slide25.xml"/><Relationship Id="rId3" Type="http://schemas.openxmlformats.org/officeDocument/2006/relationships/slide" Target="slide26.xml"/><Relationship Id="rId4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" Target="slide28.xml"/><Relationship Id="rId3" Type="http://schemas.openxmlformats.org/officeDocument/2006/relationships/slide" Target="slide29.xml"/><Relationship Id="rId4" Type="http://schemas.openxmlformats.org/officeDocument/2006/relationships/slide" Target="slide30.xml"/><Relationship Id="rId5" Type="http://schemas.openxmlformats.org/officeDocument/2006/relationships/slide" Target="slide30.xml"/><Relationship Id="rId6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4.xml"/><Relationship Id="rId3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" Target="slide13.xml"/><Relationship Id="rId3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hyperlink" Target="file:///C:/Users/sergi/OneDrive/Escritorio/centro/plantilla_flujo_git.md" TargetMode="External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A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Conectando al Centro de Estudiantes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2304000" y="1326600"/>
            <a:ext cx="507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Proyecto interdisciplinario de desarrollo web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Objetivos generales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Facilitar la comunicación entre el Centro de Estudiantes y toda la comunidad educativa mediante una plataforma web participativa.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Promover el trabajo colaborativo con roles definidos, integrando programación, diseño y bases de datos.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Presentar un sitio funcional, seguro, accesible y con diseño responsivo.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Seguridad en el acceso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Autenticación con usuario y contraseña y manejo de sesiones activas.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Cifrado de contraseñas con funciones seguras (`password_hash`, `password_verify`) y nociones de hashing + salting.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Riesgos de no proteger las zonas administrativas y necesidad de cerrar sesión.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Seguridad en el acceso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`scripts/procesar_registro.php`: crea usuarios nuevos con `password_hash` para evitar contraseñas en texto plano antes de guardarlas en la base.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 action="ppaction://hlinksldjump"/>
              </a:rPr>
              <a:t>F:scripts/procesar_registro.php†L1-L22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`scripts/login.php`: valida las credenciales con consultas preparadas y `password_verify`, inicia la sesión y redirige al panel seguro.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2" action="ppaction://hlinksldjump"/>
              </a:rPr>
              <a:t>F:scripts/login.php†L1-L24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`scripts/validar_sesion.php` y `scripts/logout.php`: controlan el acceso a las páginas internas y cierran la sesión limpiamente.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3" action="ppaction://hlinksldjump"/>
              </a:rPr>
              <a:t>F:scripts/validar_sesion.php†L1-L9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F:scripts/logout.php†L1-L6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 `scripts/dashboard.php`: ejemplo práctico de página protegida que depende de la sesión activa y muestra los datos administrativos.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4" action="ppaction://hlinksldjump"/>
              </a:rPr>
              <a:t>F:scripts/dashboard.php†L1-L78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Seguridad en el acceso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Mostrar el flujo completo: registro (si corresponde), login, navegación por el panel y cierre de sesión.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Explicar cómo `$_SESSION['nombre_usuario']` actúa como la “caja invisible” mencionada en el PDF para verificar el acceso.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Resaltar que aun con acceso al servidor, las contraseñas siguen protegidas gracias al hashing.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Datos y conexión con la base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Modelado de datos en MySQL para usuarios, publicaciones y mensajes del formulario.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Uso de PDO y consultas preparadas para evitar inyecciones SQL.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Persistencia de publicaciones, imágenes y respuestas desde el panel de control.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Datos y conexión con la base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2160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`scripts/conexion.php`: configura PDO con `ATTR_ERRMODE`, `FETCH_ASSOC` y sin emulación de `prepare`, tal como recomienda la teoría del PDF.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 action="ppaction://hlinksldjump"/>
              </a:rPr>
              <a:t>F:scripts/conexion.php†L1-L21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`scripts/contacto.php`: ejemplo de inserción con prepared statements que valida entradas antes de guardar mensajes de la comunidad.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2" action="ppaction://hlinksldjump"/>
              </a:rPr>
              <a:t>F:scripts/contacto.php†L1-L35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`scripts/procesar_crear_publicacion.php` y `scripts/procesar_editar_publicacion.php`: muestran cómo se persisten publicaciones, se suben imágenes y se controla la categoría seleccionada.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F:scripts/procesar_crear_publicacion.php†L1-L33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F:scripts/procesar_editar_publicacion.php†L1-L35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 `scripts/responder_mensaje.php`: integra base de datos + envío de correo con PHPMailer, y registra quién responde cada mensaje en la tabla correspondiente.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F:scripts/responder_mensaje.php†L1-L83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Datos y conexión con la base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Preparar una consulta en MySQL (o pantallazo) para mostrar cómo quedan almacenados los registros.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Destacar que cada acción en el panel corresponde a una consulta SQL preparada (insert/update/delete) que mantiene la integridad de la base.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Diseño y estructura del sitio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Uso de HTML semántico (`&lt;header&gt;`, `&lt;main&gt;`, `&lt;nav&gt;`, `&lt;section&gt;`) para accesibilidad.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CSS responsivo con Flexbox y media queries para adaptar la interfaz a celulares, tablets y PC.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Importancia de textos alternativos (`alt`) e iconografía accesible.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Diseño y estructura del sitio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600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`index.php`: organiza la página principal con secciones claramente etiquetadas, formulario modal accesible y renderizado dinámico de tarjetas desde la base.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 action="ppaction://hlinksldjump"/>
              </a:rPr>
              <a:t>F:index.php†L1-L139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`estilos/estilosindex.css`: concentra el diseño responsivo con flexbox, `flex-wrap` y `@media (max-width: 768px)` para adaptar menús y tarjetas al ancho disponible.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2" action="ppaction://hlinksldjump"/>
              </a:rPr>
              <a:t>F:estilos/estilosindex.css†L5-L180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F:estilos/estilosindex.css†L234-L247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`estilos/style-guide-centro-estudiantes.css` y `estilos/banner.css`: definen la paleta, tipografías y animaciones que hacen coherente la identidad visual (mencionarlo y mostrar brevemente la estructura de variables y componentes si hay tiempo).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F: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3" action="ppaction://hlinksldjump"/>
              </a:rPr>
              <a:t>estilos/style-guide-centro-estudiantes.css†L1-L120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Diseño y estructura del sitio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216000" cy="37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Reducir el ancho del navegador para mostrar cómo la barra lateral pasa a formato vertical y cómo el banner mantiene la proporción.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Señalar ejemplos de atributos `alt` e íconos con `aria-label` que refuerzan la accesibilidad.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F:index.php†L89-L138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Organización del proyecto y buenas prácticas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Estructura modular de carpetas: separación de responsabilidades entre frontend (`estilos/`, `img/`), backend (`scripts/`), páginas (`pages/`) y archivos subidos (`uploads/`).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Uso de Composer para gestionar dependencias (PHPMailer, Dotenv) y de `.env` para credenciales.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Buenas prácticas de versionado con Git y plantillas de flujo de trabajo.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Organización del proyecto y buenas prácticas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21600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Vista rápida del árbol de directorios en la raíz del repositorio para evidenciar la 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organización mencionada en el PDF.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 action="ppaction://hlinksldjump"/>
              </a:rPr>
              <a:t>F:readme.md†L1-L40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`composer.json` y la carpeta `vendor/` instalada: evidencia del uso de 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dependencias externas gestionadas de forma profesional.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2" action="ppaction://hlinksldjump"/>
              </a:rPr>
              <a:t>F:composer.json†L1-L39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`scripts/responder_mensaje.php`: ejemplo concreto de cómo se cargan variables 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entorno con Dotenv (`$dotenv-&gt;load()`) y se aprovechan las librerías incluidas por 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Composer.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3" action="ppaction://hlinksldjump"/>
              </a:rPr>
              <a:t>F:scripts/responder_mensaje.php†L1-L30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4. `plantilla_flujo_git.md`: recurso entregado al equipo para practicar un flujo Git 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colaborativo (pueden comentarlo brevemente si el jurado pregunta por 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metodologías).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【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4" action="ppaction://hlinksldjump"/>
              </a:rPr>
              <a:t>F:plantilla_flujo_git.md†L1-L120</a:t>
            </a: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5" action="ppaction://hlinksldjump"/>
              </a:rPr>
              <a:t>F:plantilla_flujo_git.md†L1-L120</a:t>
            </a:r>
            <a:r>
              <a:rPr b="0" lang="zh-C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Organización del proyecto y buenas prácticas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Explicar cómo la estructura facilita que nuevos integrantes encuentren rápidamente los archivos que necesitan modificar.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Mencionar que el control de versiones y la organización por módulos son buenas prácticas profesionales que surgieron como aprendizaje clave del proyecto.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“Este proyecto nos permitió aplicar programación, diseño, base de datos y trabajo en equipo para resolver una necesidad real de nuestra comunidad. Hoy presentamos un sitio seguro, organizado y accesible que evoluciona junto al Centro de Estudiantes”.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/>
          </p:nvPr>
        </p:nvSpPr>
        <p:spPr>
          <a:xfrm>
            <a:off x="2664000" y="2340000"/>
            <a:ext cx="4176000" cy="11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s-AR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Gracias!</a:t>
            </a:r>
            <a:endParaRPr b="0" lang="es-A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>
            <a:hlinkClick r:id="rId1" action="ppaction://hlinksldjump"/>
          </p:cNvPr>
          <p:cNvSpPr/>
          <p:nvPr/>
        </p:nvSpPr>
        <p:spPr>
          <a:xfrm rot="4860000">
            <a:off x="4320000" y="3960000"/>
            <a:ext cx="900000" cy="900000"/>
          </a:xfrm>
          <a:custGeom>
            <a:avLst/>
            <a:gdLst>
              <a:gd name="textAreaLeft" fmla="*/ 0 w 900000"/>
              <a:gd name="textAreaRight" fmla="*/ 900360 w 900000"/>
              <a:gd name="textAreaTop" fmla="*/ 0 h 900000"/>
              <a:gd name="textAreaBottom" fmla="*/ 900360 h 90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68360" y="211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Figuras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Cifrado de contraseña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875880" y="1080000"/>
            <a:ext cx="8124120" cy="444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">
            <a:hlinkClick r:id="rId2" action="ppaction://hlinksldjump"/>
          </p:cNvPr>
          <p:cNvSpPr/>
          <p:nvPr/>
        </p:nvSpPr>
        <p:spPr>
          <a:xfrm flipH="1" rot="2100000">
            <a:off x="9359280" y="485928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Seguridad en el acceso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>
            <a:hlinkClick r:id="rId1" action="ppaction://hlinksldjump"/>
          </p:cNvPr>
          <p:cNvSpPr/>
          <p:nvPr/>
        </p:nvSpPr>
        <p:spPr>
          <a:xfrm flipH="1" rot="2100000">
            <a:off x="9357120" y="482076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1488600" y="1171800"/>
            <a:ext cx="7277400" cy="404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Seguridad en el acceso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>
            <a:hlinkClick r:id="rId1" action="ppaction://hlinksldjump"/>
          </p:cNvPr>
          <p:cNvSpPr/>
          <p:nvPr/>
        </p:nvSpPr>
        <p:spPr>
          <a:xfrm flipH="1" rot="2100000">
            <a:off x="9354960" y="478224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2"/>
          <a:stretch/>
        </p:blipFill>
        <p:spPr>
          <a:xfrm>
            <a:off x="2688840" y="1692360"/>
            <a:ext cx="4876920" cy="226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Seguridad en el acceso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>
            <a:hlinkClick r:id="rId1" action="ppaction://hlinksldjump"/>
          </p:cNvPr>
          <p:cNvSpPr/>
          <p:nvPr/>
        </p:nvSpPr>
        <p:spPr>
          <a:xfrm flipH="1" rot="2100000">
            <a:off x="9352800" y="474372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1926720" y="1258560"/>
            <a:ext cx="6401160" cy="3133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Datos y conexión con la base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>
            <a:hlinkClick r:id="rId1" action="ppaction://hlinksldjump"/>
          </p:cNvPr>
          <p:cNvSpPr/>
          <p:nvPr/>
        </p:nvSpPr>
        <p:spPr>
          <a:xfrm flipH="1" rot="2100000">
            <a:off x="9350640" y="470520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2"/>
          <a:stretch/>
        </p:blipFill>
        <p:spPr>
          <a:xfrm>
            <a:off x="978840" y="1954080"/>
            <a:ext cx="8296920" cy="1742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Datos y conexión con la base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>
            <a:hlinkClick r:id="rId1" action="ppaction://hlinksldjump"/>
          </p:cNvPr>
          <p:cNvSpPr/>
          <p:nvPr/>
        </p:nvSpPr>
        <p:spPr>
          <a:xfrm flipH="1" rot="2100000">
            <a:off x="9348480" y="466668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1445760" y="1468440"/>
            <a:ext cx="7363440" cy="271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Diseño y estructura del sitio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>
            <a:hlinkClick r:id="rId1" action="ppaction://hlinksldjump"/>
          </p:cNvPr>
          <p:cNvSpPr/>
          <p:nvPr/>
        </p:nvSpPr>
        <p:spPr>
          <a:xfrm flipH="1" rot="2100000">
            <a:off x="9346320" y="462816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2880000" y="976680"/>
            <a:ext cx="3780000" cy="4559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Diseño y estructura del sitio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>
            <a:hlinkClick r:id="rId1" action="ppaction://hlinksldjump"/>
          </p:cNvPr>
          <p:cNvSpPr/>
          <p:nvPr/>
        </p:nvSpPr>
        <p:spPr>
          <a:xfrm flipH="1" rot="2100000">
            <a:off x="9344160" y="458964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720000" y="1264320"/>
            <a:ext cx="8280360" cy="368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Diseño y estructura del sitio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>
            <a:hlinkClick r:id="rId1" action="ppaction://hlinksldjump"/>
          </p:cNvPr>
          <p:cNvSpPr/>
          <p:nvPr/>
        </p:nvSpPr>
        <p:spPr>
          <a:xfrm flipH="1" rot="2100000">
            <a:off x="9342000" y="455112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1745640" y="1051920"/>
            <a:ext cx="5994360" cy="406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Organización del proyecto y buenas prácticas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1185480" y="1423800"/>
            <a:ext cx="6859800" cy="324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>
            <a:hlinkClick r:id="rId2" action="ppaction://hlinksldjump"/>
          </p:cNvPr>
          <p:cNvSpPr/>
          <p:nvPr/>
        </p:nvSpPr>
        <p:spPr>
          <a:xfrm flipH="1" rot="2100000">
            <a:off x="9339840" y="451260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Organización del proyecto y buenas prácticas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>
            <a:hlinkClick r:id="rId1" action="ppaction://hlinksldjump"/>
          </p:cNvPr>
          <p:cNvSpPr/>
          <p:nvPr/>
        </p:nvSpPr>
        <p:spPr>
          <a:xfrm flipH="1" rot="2100000">
            <a:off x="9337680" y="447408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2174400" y="1439640"/>
            <a:ext cx="5905800" cy="27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Organización del proyecto y buenas prácticas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>
            <a:hlinkClick r:id="rId1" action="ppaction://hlinksldjump"/>
          </p:cNvPr>
          <p:cNvSpPr/>
          <p:nvPr/>
        </p:nvSpPr>
        <p:spPr>
          <a:xfrm flipH="1" rot="2100000">
            <a:off x="9335520" y="443556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1440000" y="1753200"/>
            <a:ext cx="7045200" cy="292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Organización del proyecto y buenas prácticas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>
            <a:hlinkClick r:id="rId1" action="ppaction://hlinksldjump"/>
          </p:cNvPr>
          <p:cNvSpPr/>
          <p:nvPr/>
        </p:nvSpPr>
        <p:spPr>
          <a:xfrm flipH="1" rot="2100000">
            <a:off x="9333360" y="4397040"/>
            <a:ext cx="360000" cy="360360"/>
          </a:xfrm>
          <a:custGeom>
            <a:avLst/>
            <a:gdLst>
              <a:gd name="textAreaLeft" fmla="*/ 360 w 360000"/>
              <a:gd name="textAreaRight" fmla="*/ 360720 w 360000"/>
              <a:gd name="textAreaTop" fmla="*/ 0 h 360360"/>
              <a:gd name="textAreaBottom" fmla="*/ 360720 h 360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>
            <a:hlinkClick r:id="rId2"/>
          </p:cNvPr>
          <p:cNvSpPr/>
          <p:nvPr/>
        </p:nvSpPr>
        <p:spPr>
          <a:xfrm>
            <a:off x="3960000" y="1980000"/>
            <a:ext cx="1620000" cy="2160000"/>
          </a:xfrm>
          <a:prstGeom prst="foldedCorner">
            <a:avLst>
              <a:gd name="adj" fmla="val 125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2025-10-28T08:06:58Z</dcterms:created>
  <dc:creator/>
  <dc:description/>
  <dc:language>es-AR</dc:language>
  <cp:lastModifiedBy/>
  <dcterms:modified xsi:type="dcterms:W3CDTF">2025-10-28T10:59:02Z</dcterms:modified>
  <cp:revision>4</cp:revision>
  <dc:subject/>
  <dc:title/>
</cp:coreProperties>
</file>